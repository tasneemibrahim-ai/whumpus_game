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9" r:id="rId2"/>
    <p:sldId id="260" r:id="rId3"/>
    <p:sldId id="258" r:id="rId4"/>
    <p:sldId id="263" r:id="rId5"/>
    <p:sldId id="262" r:id="rId6"/>
    <p:sldId id="264" r:id="rId7"/>
    <p:sldId id="266" r:id="rId8"/>
    <p:sldId id="265" r:id="rId9"/>
    <p:sldId id="267" r:id="rId10"/>
    <p:sldId id="268" r:id="rId11"/>
    <p:sldId id="269" r:id="rId12"/>
    <p:sldId id="270" r:id="rId13"/>
    <p:sldId id="272" r:id="rId14"/>
    <p:sldId id="271" r:id="rId15"/>
    <p:sldId id="274"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2632328-8A4E-49BC-BA1A-09C762F0BE0E}"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D13809-5D4F-4B0E-8374-FFED1FECF61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69708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632328-8A4E-49BC-BA1A-09C762F0BE0E}"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D13809-5D4F-4B0E-8374-FFED1FECF614}" type="slidenum">
              <a:rPr lang="en-US" smtClean="0"/>
              <a:t>‹#›</a:t>
            </a:fld>
            <a:endParaRPr lang="en-US"/>
          </a:p>
        </p:txBody>
      </p:sp>
    </p:spTree>
    <p:extLst>
      <p:ext uri="{BB962C8B-B14F-4D97-AF65-F5344CB8AC3E}">
        <p14:creationId xmlns:p14="http://schemas.microsoft.com/office/powerpoint/2010/main" val="1923499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632328-8A4E-49BC-BA1A-09C762F0BE0E}"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D13809-5D4F-4B0E-8374-FFED1FECF614}"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1098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632328-8A4E-49BC-BA1A-09C762F0BE0E}"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D13809-5D4F-4B0E-8374-FFED1FECF614}" type="slidenum">
              <a:rPr lang="en-US" smtClean="0"/>
              <a:t>‹#›</a:t>
            </a:fld>
            <a:endParaRPr lang="en-US"/>
          </a:p>
        </p:txBody>
      </p:sp>
    </p:spTree>
    <p:extLst>
      <p:ext uri="{BB962C8B-B14F-4D97-AF65-F5344CB8AC3E}">
        <p14:creationId xmlns:p14="http://schemas.microsoft.com/office/powerpoint/2010/main" val="2801790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632328-8A4E-49BC-BA1A-09C762F0BE0E}" type="datetimeFigureOut">
              <a:rPr lang="en-US" smtClean="0"/>
              <a:t>9/19/2026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9D13809-5D4F-4B0E-8374-FFED1FECF614}" type="slidenum">
              <a:rPr lang="en-US" smtClean="0"/>
              <a:t>‹#›</a:t>
            </a:fld>
            <a:endParaRPr lang="en-US"/>
          </a:p>
        </p:txBody>
      </p:sp>
    </p:spTree>
    <p:extLst>
      <p:ext uri="{BB962C8B-B14F-4D97-AF65-F5344CB8AC3E}">
        <p14:creationId xmlns:p14="http://schemas.microsoft.com/office/powerpoint/2010/main" val="4132705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632328-8A4E-49BC-BA1A-09C762F0BE0E}" type="datetimeFigureOut">
              <a:rPr lang="en-US" smtClean="0"/>
              <a:t>9/19/2026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9D13809-5D4F-4B0E-8374-FFED1FECF614}" type="slidenum">
              <a:rPr lang="en-US" smtClean="0"/>
              <a:t>‹#›</a:t>
            </a:fld>
            <a:endParaRPr lang="en-US"/>
          </a:p>
        </p:txBody>
      </p:sp>
    </p:spTree>
    <p:extLst>
      <p:ext uri="{BB962C8B-B14F-4D97-AF65-F5344CB8AC3E}">
        <p14:creationId xmlns:p14="http://schemas.microsoft.com/office/powerpoint/2010/main" val="20148464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2632328-8A4E-49BC-BA1A-09C762F0BE0E}" type="datetimeFigureOut">
              <a:rPr lang="en-US" smtClean="0"/>
              <a:t>9/19/2026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9D13809-5D4F-4B0E-8374-FFED1FECF614}" type="slidenum">
              <a:rPr lang="en-US" smtClean="0"/>
              <a:t>‹#›</a:t>
            </a:fld>
            <a:endParaRPr lang="en-US"/>
          </a:p>
        </p:txBody>
      </p:sp>
    </p:spTree>
    <p:extLst>
      <p:ext uri="{BB962C8B-B14F-4D97-AF65-F5344CB8AC3E}">
        <p14:creationId xmlns:p14="http://schemas.microsoft.com/office/powerpoint/2010/main" val="3999024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C2632328-8A4E-49BC-BA1A-09C762F0BE0E}" type="datetimeFigureOut">
              <a:rPr lang="en-US" smtClean="0"/>
              <a:t>9/19/2026</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9D13809-5D4F-4B0E-8374-FFED1FECF614}" type="slidenum">
              <a:rPr lang="en-US" smtClean="0"/>
              <a:t>‹#›</a:t>
            </a:fld>
            <a:endParaRPr lang="en-US"/>
          </a:p>
        </p:txBody>
      </p:sp>
    </p:spTree>
    <p:extLst>
      <p:ext uri="{BB962C8B-B14F-4D97-AF65-F5344CB8AC3E}">
        <p14:creationId xmlns:p14="http://schemas.microsoft.com/office/powerpoint/2010/main" val="407433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632328-8A4E-49BC-BA1A-09C762F0BE0E}" type="datetimeFigureOut">
              <a:rPr lang="en-US" smtClean="0"/>
              <a:t>9/19/2026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9D13809-5D4F-4B0E-8374-FFED1FECF614}" type="slidenum">
              <a:rPr lang="en-US" smtClean="0"/>
              <a:t>‹#›</a:t>
            </a:fld>
            <a:endParaRPr lang="en-US"/>
          </a:p>
        </p:txBody>
      </p:sp>
    </p:spTree>
    <p:extLst>
      <p:ext uri="{BB962C8B-B14F-4D97-AF65-F5344CB8AC3E}">
        <p14:creationId xmlns:p14="http://schemas.microsoft.com/office/powerpoint/2010/main" val="30584124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632328-8A4E-49BC-BA1A-09C762F0BE0E}"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D13809-5D4F-4B0E-8374-FFED1FECF614}" type="slidenum">
              <a:rPr lang="en-US" smtClean="0"/>
              <a:t>‹#›</a:t>
            </a:fld>
            <a:endParaRPr lang="en-US"/>
          </a:p>
        </p:txBody>
      </p:sp>
    </p:spTree>
    <p:extLst>
      <p:ext uri="{BB962C8B-B14F-4D97-AF65-F5344CB8AC3E}">
        <p14:creationId xmlns:p14="http://schemas.microsoft.com/office/powerpoint/2010/main" val="4236234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632328-8A4E-49BC-BA1A-09C762F0BE0E}" type="datetimeFigureOut">
              <a:rPr lang="en-US" smtClean="0"/>
              <a:t>9/19/2026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9D13809-5D4F-4B0E-8374-FFED1FECF614}" type="slidenum">
              <a:rPr lang="en-US" smtClean="0"/>
              <a:t>‹#›</a:t>
            </a:fld>
            <a:endParaRPr lang="en-US"/>
          </a:p>
        </p:txBody>
      </p:sp>
    </p:spTree>
    <p:extLst>
      <p:ext uri="{BB962C8B-B14F-4D97-AF65-F5344CB8AC3E}">
        <p14:creationId xmlns:p14="http://schemas.microsoft.com/office/powerpoint/2010/main" val="2922987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C2632328-8A4E-49BC-BA1A-09C762F0BE0E}" type="datetimeFigureOut">
              <a:rPr lang="en-US" smtClean="0"/>
              <a:t>9/19/2026</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C9D13809-5D4F-4B0E-8374-FFED1FECF614}"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2096038"/>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576775"/>
            <a:ext cx="10058400" cy="3566160"/>
          </a:xfrm>
        </p:spPr>
        <p:txBody>
          <a:bodyPr/>
          <a:lstStyle/>
          <a:p>
            <a:r>
              <a:rPr lang="en-US" dirty="0"/>
              <a:t>Wumpus World game</a:t>
            </a:r>
            <a:br>
              <a:rPr lang="en-US" dirty="0"/>
            </a:br>
            <a:r>
              <a:rPr lang="en-US" dirty="0"/>
              <a:t>Report</a:t>
            </a:r>
          </a:p>
        </p:txBody>
      </p:sp>
    </p:spTree>
    <p:extLst>
      <p:ext uri="{BB962C8B-B14F-4D97-AF65-F5344CB8AC3E}">
        <p14:creationId xmlns:p14="http://schemas.microsoft.com/office/powerpoint/2010/main" val="29092988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Knowledge base</a:t>
            </a:r>
          </a:p>
        </p:txBody>
      </p:sp>
      <p:sp>
        <p:nvSpPr>
          <p:cNvPr id="3" name="Content Placeholder 2"/>
          <p:cNvSpPr>
            <a:spLocks noGrp="1"/>
          </p:cNvSpPr>
          <p:nvPr>
            <p:ph idx="1"/>
          </p:nvPr>
        </p:nvSpPr>
        <p:spPr/>
        <p:txBody>
          <a:bodyPr>
            <a:normAutofit fontScale="85000" lnSpcReduction="10000"/>
          </a:bodyPr>
          <a:lstStyle/>
          <a:p>
            <a:r>
              <a:rPr lang="en-US" dirty="0"/>
              <a:t>In the context of a </a:t>
            </a:r>
            <a:r>
              <a:rPr lang="en-US" dirty="0" err="1"/>
              <a:t>Wumpus</a:t>
            </a:r>
            <a:r>
              <a:rPr lang="en-US" dirty="0"/>
              <a:t> World game or other artificial intelligence applications, a "knowledge base" refers to a structured collection of information that an agent or system uses to reason, make decisions, and respond to its environment. The knowledge base contains facts, rules, and relationships that the agent has acquired or inferred during its interactions with the world.</a:t>
            </a:r>
          </a:p>
          <a:p>
            <a:r>
              <a:rPr lang="en-US" dirty="0"/>
              <a:t>Let's break down the key components of a knowledge base in the context of a </a:t>
            </a:r>
            <a:r>
              <a:rPr lang="en-US" dirty="0" err="1"/>
              <a:t>Wumpus</a:t>
            </a:r>
            <a:r>
              <a:rPr lang="en-US" dirty="0"/>
              <a:t> World game:</a:t>
            </a:r>
          </a:p>
          <a:p>
            <a:r>
              <a:rPr lang="en-US" b="1" dirty="0"/>
              <a:t>Facts:</a:t>
            </a:r>
            <a:r>
              <a:rPr lang="en-US" dirty="0"/>
              <a:t> These are concrete pieces of information about the state of the environment. For example, the presence of a pit at a certain location, the position of the </a:t>
            </a:r>
            <a:r>
              <a:rPr lang="en-US" dirty="0" err="1"/>
              <a:t>Wumpus</a:t>
            </a:r>
            <a:r>
              <a:rPr lang="en-US" dirty="0"/>
              <a:t>, the location of gold, etc.</a:t>
            </a:r>
          </a:p>
          <a:p>
            <a:r>
              <a:rPr lang="en-US" b="1" dirty="0"/>
              <a:t>Rules:</a:t>
            </a:r>
            <a:r>
              <a:rPr lang="en-US" dirty="0"/>
              <a:t> These are logical statements or conditions that the agent can use to derive new facts or make decisions. For instance, a rule might state that if the agent perceives a breeze, there might be a pit nearby.</a:t>
            </a:r>
          </a:p>
          <a:p>
            <a:r>
              <a:rPr lang="en-US" b="1" dirty="0"/>
              <a:t>Inference:</a:t>
            </a:r>
            <a:r>
              <a:rPr lang="en-US" dirty="0"/>
              <a:t> The process of drawing logical conclusions or making deductions based on the facts and rules in the knowledge base. In a </a:t>
            </a:r>
            <a:r>
              <a:rPr lang="en-US" dirty="0" err="1"/>
              <a:t>Wumpus</a:t>
            </a:r>
            <a:r>
              <a:rPr lang="en-US" dirty="0"/>
              <a:t> World game, the agent might infer the presence of a pit if it perceives a breeze.</a:t>
            </a:r>
          </a:p>
          <a:p>
            <a:r>
              <a:rPr lang="en-US" b="1" dirty="0"/>
              <a:t>Dynamic Updates:</a:t>
            </a:r>
            <a:r>
              <a:rPr lang="en-US" dirty="0"/>
              <a:t> The knowledge base is dynamic and gets updated as the agent interacts with the environment. For example, if the agent moves to a new location and doesn't perceive a breeze, it can update its knowledge base to indicate that there is no pit in the new location.</a:t>
            </a:r>
          </a:p>
          <a:p>
            <a:endParaRPr lang="en-US" dirty="0"/>
          </a:p>
        </p:txBody>
      </p:sp>
    </p:spTree>
    <p:extLst>
      <p:ext uri="{BB962C8B-B14F-4D97-AF65-F5344CB8AC3E}">
        <p14:creationId xmlns:p14="http://schemas.microsoft.com/office/powerpoint/2010/main" val="728167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4092178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Inference engine</a:t>
            </a:r>
          </a:p>
        </p:txBody>
      </p:sp>
      <p:sp>
        <p:nvSpPr>
          <p:cNvPr id="3" name="Content Placeholder 2"/>
          <p:cNvSpPr>
            <a:spLocks noGrp="1"/>
          </p:cNvSpPr>
          <p:nvPr>
            <p:ph idx="1"/>
          </p:nvPr>
        </p:nvSpPr>
        <p:spPr/>
        <p:txBody>
          <a:bodyPr>
            <a:normAutofit fontScale="70000" lnSpcReduction="20000"/>
          </a:bodyPr>
          <a:lstStyle/>
          <a:p>
            <a:r>
              <a:rPr lang="en-US" dirty="0"/>
              <a:t>An inference engine is a crucial component in artificial intelligence systems, including those used in logic-based systems and rule-based systems. It is responsible for deriving logical conclusions or making decisions based on the information (facts and rules) stored in the knowledge base. In the context of a </a:t>
            </a:r>
            <a:r>
              <a:rPr lang="en-US" dirty="0" err="1"/>
              <a:t>Wumpus</a:t>
            </a:r>
            <a:r>
              <a:rPr lang="en-US" dirty="0"/>
              <a:t> World game or other reasoning tasks, the inference engine processes the available information to infer new facts, update the knowledge base, and guide the behavior of the intelligent agent.</a:t>
            </a:r>
          </a:p>
          <a:p>
            <a:r>
              <a:rPr lang="en-US" dirty="0"/>
              <a:t>Here are the key components and functionalities of an inference engine:</a:t>
            </a:r>
          </a:p>
          <a:p>
            <a:r>
              <a:rPr lang="en-US" b="1" dirty="0"/>
              <a:t>Pattern Matching:</a:t>
            </a:r>
            <a:r>
              <a:rPr lang="en-US" dirty="0"/>
              <a:t> The inference engine matches the observed or known facts in the knowledge base with the conditions specified in the rules. It identifies patterns that match the current state of the environment.</a:t>
            </a:r>
          </a:p>
          <a:p>
            <a:r>
              <a:rPr lang="en-US" b="1" dirty="0"/>
              <a:t>Rule Evaluation:</a:t>
            </a:r>
            <a:r>
              <a:rPr lang="en-US" dirty="0"/>
              <a:t> Once the relevant rules are identified through pattern matching, the inference engine evaluates these rules to determine which actions or conclusions should be taken. Rules often involve logical conditions that, when satisfied, trigger specific actions.</a:t>
            </a:r>
          </a:p>
          <a:p>
            <a:r>
              <a:rPr lang="en-US" b="1" dirty="0"/>
              <a:t>Inference:</a:t>
            </a:r>
            <a:r>
              <a:rPr lang="en-US" dirty="0"/>
              <a:t> The engine draws logical conclusions based on the matched rules and the current state of the environment. These conclusions may include new facts that are added to the knowledge base or decisions on the next actions the agent should take.</a:t>
            </a:r>
          </a:p>
          <a:p>
            <a:r>
              <a:rPr lang="en-US" b="1" dirty="0"/>
              <a:t>Uncertainty Handling:</a:t>
            </a:r>
            <a:r>
              <a:rPr lang="en-US" dirty="0"/>
              <a:t> In many real-world scenarios, there is uncertainty or incomplete information. The inference engine may be designed to handle uncertainty by using probabilistic reasoning or fuzzy logic, allowing the agent to make informed decisions even when it doesn't have complete information.</a:t>
            </a:r>
          </a:p>
          <a:p>
            <a:r>
              <a:rPr lang="en-US" b="1" dirty="0"/>
              <a:t>Conflict Resolution:</a:t>
            </a:r>
            <a:r>
              <a:rPr lang="en-US" dirty="0"/>
              <a:t> In cases where multiple rules or pieces of information conflict with each other, the inference engine may prioritize or resolve conflicts based on predefined rules or heuristics.</a:t>
            </a:r>
          </a:p>
          <a:p>
            <a:endParaRPr lang="en-US" dirty="0"/>
          </a:p>
        </p:txBody>
      </p:sp>
    </p:spTree>
    <p:extLst>
      <p:ext uri="{BB962C8B-B14F-4D97-AF65-F5344CB8AC3E}">
        <p14:creationId xmlns:p14="http://schemas.microsoft.com/office/powerpoint/2010/main" val="2276083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757485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1999" cy="6858000"/>
          </a:xfrm>
          <a:prstGeom prst="rect">
            <a:avLst/>
          </a:prstGeom>
        </p:spPr>
      </p:pic>
    </p:spTree>
    <p:extLst>
      <p:ext uri="{BB962C8B-B14F-4D97-AF65-F5344CB8AC3E}">
        <p14:creationId xmlns:p14="http://schemas.microsoft.com/office/powerpoint/2010/main" val="2857920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Agent Function</a:t>
            </a:r>
          </a:p>
        </p:txBody>
      </p:sp>
      <p:sp>
        <p:nvSpPr>
          <p:cNvPr id="5" name="Content Placeholder 4"/>
          <p:cNvSpPr>
            <a:spLocks noGrp="1"/>
          </p:cNvSpPr>
          <p:nvPr>
            <p:ph idx="1"/>
          </p:nvPr>
        </p:nvSpPr>
        <p:spPr/>
        <p:txBody>
          <a:bodyPr>
            <a:normAutofit fontScale="62500" lnSpcReduction="20000"/>
          </a:bodyPr>
          <a:lstStyle/>
          <a:p>
            <a:r>
              <a:rPr lang="en-US" dirty="0"/>
              <a:t>The agent function is a critical part of an intelligent agent in artificial intelligence. It represents the strategy or decision-making process that the agent employs to choose actions based on its current knowledge and perceptions of the environment. In the context of a </a:t>
            </a:r>
            <a:r>
              <a:rPr lang="en-US" dirty="0" err="1"/>
              <a:t>Wumpus</a:t>
            </a:r>
            <a:r>
              <a:rPr lang="en-US" dirty="0"/>
              <a:t> World game or any similar scenario, the agent function dictates how the agent should behave, move, and interact with the environment.</a:t>
            </a:r>
          </a:p>
          <a:p>
            <a:r>
              <a:rPr lang="en-US" dirty="0"/>
              <a:t>Here are key aspects and functionalities of an agent function:</a:t>
            </a:r>
          </a:p>
          <a:p>
            <a:r>
              <a:rPr lang="en-US" b="1" dirty="0"/>
              <a:t>Perception:</a:t>
            </a:r>
            <a:r>
              <a:rPr lang="en-US" dirty="0"/>
              <a:t> The agent function incorporates information from the environment received through sensors or perceptions. This includes cues such as breezes, stenches, glitter, and other observable features in the game.</a:t>
            </a:r>
          </a:p>
          <a:p>
            <a:r>
              <a:rPr lang="en-US" b="1" dirty="0"/>
              <a:t>Knowledge Base Interaction:</a:t>
            </a:r>
            <a:r>
              <a:rPr lang="en-US" dirty="0"/>
              <a:t> The agent function interacts with the knowledge base, using the information stored within it to make informed decisions. It may use rules and logic to infer additional information from the knowledge base.</a:t>
            </a:r>
          </a:p>
          <a:p>
            <a:r>
              <a:rPr lang="en-US" b="1" dirty="0"/>
              <a:t>Action Selection:</a:t>
            </a:r>
            <a:r>
              <a:rPr lang="en-US" dirty="0"/>
              <a:t> Based on the perceived information and the current state of the knowledge base, the agent function selects the next action to take. Actions can include moving to a new location, shooting an arrow, grabbing gold, or performing other game-specific tasks.</a:t>
            </a:r>
          </a:p>
          <a:p>
            <a:r>
              <a:rPr lang="en-US" b="1" dirty="0"/>
              <a:t>Decision-Making:</a:t>
            </a:r>
            <a:r>
              <a:rPr lang="en-US" dirty="0"/>
              <a:t> The agent function may involve decision-making algorithms that prioritize actions based on certain criteria. For example, the agent might prioritize moving to a safe, unexplored location over taking a risky move.</a:t>
            </a:r>
          </a:p>
          <a:p>
            <a:r>
              <a:rPr lang="en-US" b="1" dirty="0"/>
              <a:t>Goal-Oriented Behavior:</a:t>
            </a:r>
            <a:r>
              <a:rPr lang="en-US" dirty="0"/>
              <a:t> The agent function is often designed to work towards achieving specific goals or objectives. In the case of a </a:t>
            </a:r>
            <a:r>
              <a:rPr lang="en-US" dirty="0" err="1"/>
              <a:t>Wumpus</a:t>
            </a:r>
            <a:r>
              <a:rPr lang="en-US" dirty="0"/>
              <a:t> World game, the goals might include finding gold, avoiding hazards like pits and the </a:t>
            </a:r>
            <a:r>
              <a:rPr lang="en-US" dirty="0" err="1"/>
              <a:t>Wumpus</a:t>
            </a:r>
            <a:r>
              <a:rPr lang="en-US" dirty="0"/>
              <a:t>, and safely navigating the environment.</a:t>
            </a:r>
          </a:p>
          <a:p>
            <a:r>
              <a:rPr lang="en-US" b="1" dirty="0"/>
              <a:t>Adaptability:</a:t>
            </a:r>
            <a:r>
              <a:rPr lang="en-US" dirty="0"/>
              <a:t> The agent function may be adaptable, allowing the agent to adjust its strategy based on changes in the environment or new information gathered through perceptions.</a:t>
            </a:r>
          </a:p>
          <a:p>
            <a:endParaRPr lang="en-US" dirty="0"/>
          </a:p>
        </p:txBody>
      </p:sp>
    </p:spTree>
    <p:extLst>
      <p:ext uri="{BB962C8B-B14F-4D97-AF65-F5344CB8AC3E}">
        <p14:creationId xmlns:p14="http://schemas.microsoft.com/office/powerpoint/2010/main" val="2158965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398556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094200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712790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3884247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855821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score</a:t>
            </a:r>
          </a:p>
        </p:txBody>
      </p:sp>
      <p:sp>
        <p:nvSpPr>
          <p:cNvPr id="3" name="Content Placeholder 2"/>
          <p:cNvSpPr>
            <a:spLocks noGrp="1"/>
          </p:cNvSpPr>
          <p:nvPr>
            <p:ph idx="1"/>
          </p:nvPr>
        </p:nvSpPr>
        <p:spPr/>
        <p:txBody>
          <a:bodyPr>
            <a:normAutofit fontScale="70000" lnSpcReduction="20000"/>
          </a:bodyPr>
          <a:lstStyle/>
          <a:p>
            <a:r>
              <a:rPr lang="en-US" dirty="0"/>
              <a:t>In the context of a game, including the </a:t>
            </a:r>
            <a:r>
              <a:rPr lang="en-US" dirty="0" err="1"/>
              <a:t>Wumpus</a:t>
            </a:r>
            <a:r>
              <a:rPr lang="en-US" dirty="0"/>
              <a:t> World game, a "score" is a numerical representation of a player's or an agent's performance or success in the game. The score is often used to evaluate how well the player or agent is doing based on certain criteria and objectives set by the game rules.</a:t>
            </a:r>
          </a:p>
          <a:p>
            <a:r>
              <a:rPr lang="en-US" dirty="0"/>
              <a:t>Here are some common aspects related to the concept of score in a game:</a:t>
            </a:r>
          </a:p>
          <a:p>
            <a:r>
              <a:rPr lang="en-US" b="1" dirty="0"/>
              <a:t>Objective Measurement:</a:t>
            </a:r>
            <a:r>
              <a:rPr lang="en-US" dirty="0"/>
              <a:t> The score is typically designed to quantify the player's progress or achievement in meeting the objectives of the game. In the case of the </a:t>
            </a:r>
            <a:r>
              <a:rPr lang="en-US" dirty="0" err="1"/>
              <a:t>Wumpus</a:t>
            </a:r>
            <a:r>
              <a:rPr lang="en-US" dirty="0"/>
              <a:t> World, objectives might include finding gold, avoiding hazards like pits and the </a:t>
            </a:r>
            <a:r>
              <a:rPr lang="en-US" dirty="0" err="1"/>
              <a:t>Wumpus</a:t>
            </a:r>
            <a:r>
              <a:rPr lang="en-US" dirty="0"/>
              <a:t>, and successfully navigating the environment.</a:t>
            </a:r>
          </a:p>
          <a:p>
            <a:r>
              <a:rPr lang="en-US" b="1" dirty="0"/>
              <a:t>Scoring Rules:</a:t>
            </a:r>
            <a:r>
              <a:rPr lang="en-US" dirty="0"/>
              <a:t> The game defines rules that determine how the score is calculated. Different actions and outcomes in the game may contribute positively or negatively to the score. For example, picking up gold might increase the score, while falling into a pit might decrease it.</a:t>
            </a:r>
          </a:p>
          <a:p>
            <a:r>
              <a:rPr lang="en-US" b="1" dirty="0"/>
              <a:t>Feedback Mechanism:</a:t>
            </a:r>
            <a:r>
              <a:rPr lang="en-US" dirty="0"/>
              <a:t> The score serves as a feedback mechanism for the player or agent. It provides immediate information about the consequences of their actions, helping them understand how well they are performing in the game.</a:t>
            </a:r>
          </a:p>
          <a:p>
            <a:r>
              <a:rPr lang="en-US" b="1" dirty="0"/>
              <a:t>Winning and Losing Conditions:</a:t>
            </a:r>
            <a:r>
              <a:rPr lang="en-US" dirty="0"/>
              <a:t> In many games, including </a:t>
            </a:r>
            <a:r>
              <a:rPr lang="en-US" dirty="0" err="1"/>
              <a:t>Wumpus</a:t>
            </a:r>
            <a:r>
              <a:rPr lang="en-US" dirty="0"/>
              <a:t> World, the score is tied to winning and losing conditions. The player may need to achieve a certain score or complete specific objectives to win the game. Conversely, falling below a certain score or violating certain rules may result in losing the game.</a:t>
            </a:r>
          </a:p>
          <a:p>
            <a:r>
              <a:rPr lang="en-US" b="1" dirty="0"/>
              <a:t>Dynamic Updates:</a:t>
            </a:r>
            <a:r>
              <a:rPr lang="en-US" dirty="0"/>
              <a:t> The score is often dynamically updated as the player or agent takes actions in the game. Positive or negative events trigger changes in the score, reflecting the impact of those events on the player's overall performance.</a:t>
            </a:r>
          </a:p>
          <a:p>
            <a:endParaRPr lang="en-US" dirty="0"/>
          </a:p>
        </p:txBody>
      </p:sp>
    </p:spTree>
    <p:extLst>
      <p:ext uri="{BB962C8B-B14F-4D97-AF65-F5344CB8AC3E}">
        <p14:creationId xmlns:p14="http://schemas.microsoft.com/office/powerpoint/2010/main" val="12072126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080954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Visualization</a:t>
            </a:r>
          </a:p>
        </p:txBody>
      </p:sp>
      <p:sp>
        <p:nvSpPr>
          <p:cNvPr id="5" name="Content Placeholder 4"/>
          <p:cNvSpPr>
            <a:spLocks noGrp="1"/>
          </p:cNvSpPr>
          <p:nvPr>
            <p:ph idx="1"/>
          </p:nvPr>
        </p:nvSpPr>
        <p:spPr/>
        <p:txBody>
          <a:bodyPr>
            <a:normAutofit fontScale="70000" lnSpcReduction="20000"/>
          </a:bodyPr>
          <a:lstStyle/>
          <a:p>
            <a:r>
              <a:rPr lang="en-US" dirty="0"/>
              <a:t>Visualization in the context of a </a:t>
            </a:r>
            <a:r>
              <a:rPr lang="en-US" dirty="0" err="1"/>
              <a:t>Wumpus</a:t>
            </a:r>
            <a:r>
              <a:rPr lang="en-US" dirty="0"/>
              <a:t> World game, or any computer program, refers to the graphical or textual representation of information for users to comprehend and interpret. In a </a:t>
            </a:r>
            <a:r>
              <a:rPr lang="en-US" dirty="0" err="1"/>
              <a:t>Wumpus</a:t>
            </a:r>
            <a:r>
              <a:rPr lang="en-US" dirty="0"/>
              <a:t> World game, visualization is crucial for users or developers to understand the state of the game, the agent's movements, and the outcomes of actions.</a:t>
            </a:r>
          </a:p>
          <a:p>
            <a:r>
              <a:rPr lang="en-US" dirty="0"/>
              <a:t>Here are key aspects related to visualization in a </a:t>
            </a:r>
            <a:r>
              <a:rPr lang="en-US" dirty="0" err="1"/>
              <a:t>Wumpus</a:t>
            </a:r>
            <a:r>
              <a:rPr lang="en-US" dirty="0"/>
              <a:t> World game:</a:t>
            </a:r>
          </a:p>
          <a:p>
            <a:r>
              <a:rPr lang="en-US" b="1" dirty="0"/>
              <a:t>Game State Representation:</a:t>
            </a:r>
            <a:r>
              <a:rPr lang="en-US" dirty="0"/>
              <a:t> Visualization helps represent the current state of the game, including the positions of the agent, the </a:t>
            </a:r>
            <a:r>
              <a:rPr lang="en-US" dirty="0" err="1"/>
              <a:t>Wumpus</a:t>
            </a:r>
            <a:r>
              <a:rPr lang="en-US" dirty="0"/>
              <a:t>, pits, gold, and other relevant elements. It provides a snapshot of the environment at a particular point in time.</a:t>
            </a:r>
          </a:p>
          <a:p>
            <a:r>
              <a:rPr lang="en-US" b="1" dirty="0"/>
              <a:t>Action Display:</a:t>
            </a:r>
            <a:r>
              <a:rPr lang="en-US" dirty="0"/>
              <a:t> Visualization allows users to see the consequences of the agent's actions. For example, if the agent moves to a new position, the visualization should update to reflect the change in the agent's location.</a:t>
            </a:r>
          </a:p>
          <a:p>
            <a:r>
              <a:rPr lang="en-US" b="1" dirty="0"/>
              <a:t>Percept Display:</a:t>
            </a:r>
            <a:r>
              <a:rPr lang="en-US" dirty="0"/>
              <a:t> It shows what the agent perceives in its environment. If the agent senses a breeze, stench, or glitter, the visualization can convey this information to the user.</a:t>
            </a:r>
          </a:p>
          <a:p>
            <a:r>
              <a:rPr lang="en-US" b="1" dirty="0"/>
              <a:t>Score Display:</a:t>
            </a:r>
            <a:r>
              <a:rPr lang="en-US" dirty="0"/>
              <a:t> Visualization often includes the display of the current score. Users can see how their actions impact their overall performance in the game.</a:t>
            </a:r>
          </a:p>
          <a:p>
            <a:r>
              <a:rPr lang="en-US" b="1" dirty="0"/>
              <a:t>Dynamic Updates:</a:t>
            </a:r>
            <a:r>
              <a:rPr lang="en-US" dirty="0"/>
              <a:t> Visualization should dynamically update as the game progresses. Whether the agent moves, perceives something, or takes any action, the visualization should reflect these changes in real-time.</a:t>
            </a:r>
          </a:p>
          <a:p>
            <a:r>
              <a:rPr lang="en-US" b="1" dirty="0"/>
              <a:t>User Interface (UI):</a:t>
            </a:r>
            <a:r>
              <a:rPr lang="en-US" dirty="0"/>
              <a:t> Visualization is often presented through a user interface that users can interact with. This could be a graphical user interface (GUI) or a console-based interface, depending on the design of the game.</a:t>
            </a:r>
          </a:p>
          <a:p>
            <a:endParaRPr lang="en-US" dirty="0"/>
          </a:p>
        </p:txBody>
      </p:sp>
    </p:spTree>
    <p:extLst>
      <p:ext uri="{BB962C8B-B14F-4D97-AF65-F5344CB8AC3E}">
        <p14:creationId xmlns:p14="http://schemas.microsoft.com/office/powerpoint/2010/main" val="3357931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61426824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TM02900769[[fn=Retrospect]]</Template>
  <TotalTime>34</TotalTime>
  <Words>1516</Words>
  <Application>Microsoft Office PowerPoint</Application>
  <PresentationFormat>Widescreen</PresentationFormat>
  <Paragraphs>42</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Calibri</vt:lpstr>
      <vt:lpstr>Calibri Light</vt:lpstr>
      <vt:lpstr>Retrospect</vt:lpstr>
      <vt:lpstr>Wumpus World game Report</vt:lpstr>
      <vt:lpstr>Knowledge base</vt:lpstr>
      <vt:lpstr>PowerPoint Presentation</vt:lpstr>
      <vt:lpstr>Inference engine</vt:lpstr>
      <vt:lpstr>PowerPoint Presentation</vt:lpstr>
      <vt:lpstr>PowerPoint Presentation</vt:lpstr>
      <vt:lpstr>Agent Function</vt:lpstr>
      <vt:lpstr>PowerPoint Presentation</vt:lpstr>
      <vt:lpstr>PowerPoint Presentation</vt:lpstr>
      <vt:lpstr>PowerPoint Presentation</vt:lpstr>
      <vt:lpstr>PowerPoint Presentation</vt:lpstr>
      <vt:lpstr>PowerPoint Presentation</vt:lpstr>
      <vt:lpstr>score</vt:lpstr>
      <vt:lpstr>PowerPoint Presentation</vt:lpstr>
      <vt:lpstr>Visualization</vt:lpstr>
      <vt:lpstr>PowerPoint Presentation</vt:lpstr>
    </vt:vector>
  </TitlesOfParts>
  <Company>Oprekin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Project Report</dc:title>
  <dc:creator>Tasneem Ibrahim Hassan Mohamed Taha</dc:creator>
  <cp:lastModifiedBy>Tasneem Ibrahim Hassan Mohamed Taha</cp:lastModifiedBy>
  <cp:revision>6</cp:revision>
  <dcterms:created xsi:type="dcterms:W3CDTF">2023-12-25T05:46:08Z</dcterms:created>
  <dcterms:modified xsi:type="dcterms:W3CDTF">2026-09-19T11:39:38Z</dcterms:modified>
</cp:coreProperties>
</file>